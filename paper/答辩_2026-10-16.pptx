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7"/>
  </p:notesMasterIdLst>
  <p:sldIdLst>
    <p:sldId id="256" r:id="rId6"/>
    <p:sldId id="269" r:id="rId8"/>
    <p:sldId id="267" r:id="rId9"/>
    <p:sldId id="257" r:id="rId10"/>
    <p:sldId id="268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70" r:id="rId23"/>
    <p:sldId id="265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8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8"/>
        <p:guide pos="2880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题目：从词表不可分到门控结构中的目标维持。十分钟答辩：问题链 → 框架 → 三项证据 → 边界与局限。不宣称已理解人。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这是研究起点：Cowrite 是一个我自己做的长期伴写网页，不替你写、只在卡住时出牌。工程上我试过 Prompt 优化、引入 OpenViking 记忆层、加反馈机制，局部行为确实变好——风格和上下文保持有提升。但三个根本问题一直在：何时该介入、该保持什么状态、怎么判断当前任务。这些不是堆输入能解决的，于是我转向研究内部任务状态。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t>2026-10-16 续：树结点要从推荐过程里积累的兴趣资产衍生，再用用户输入矫正模型落在哪个地址上。这份资产不是文章分类树。现在没有这项支撑。缺的是两截：向量还不是结点；平台抽出的兴趣可以是推荐自己的回声。兴趣资产缺的两截那一页写了这两截，以及替代库在一步上必须同时成立的条件。下面的闸门、E12–E18 和指定父边，都是手写句子上的最小可行性，不是验证。代码闸门在生成之后执行。未指定父边时，作者看到的提示与关闭该开关时相同，不追加事实三行，地址整袋也不放进提示。发行目录在 v3 打开时，两种提示已逐字相同。这一轮的回复仍是对当前段落的话，没有把账本里另一句的事物写进去。只有指定了父边，才只送那一句。一次指定伞骨那句的调用，回复带上伞骨，没有带上面包屑，新记录的父边指向伞骨。E18 在单独的父边提示上，父边 18/18，整袋 5/18 与 11/18，无记忆父句命中 0。账本非空就改送最近一句会换掉伴写，不作为默认。E17 写成树边后命题互引仍不成立（text 3，tree 0）。E12 两臂作者可见 B 都是 0/12，不裁决代码停机。E13 再出现 8/12、无父枝 5/12，未过支持线。E15 否定共同容器。0.489/0.523 不改。不宣称理解作者。S3 仍关闭。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我的研究不是凭空研究"目标"，而是从伴写 Agent 的真实工程痛点长出来的：长程写作风格漂移、中期意图被覆盖、反复加提示词和记忆条目却越调越乱。这逼出一个问题——这只是工程实现不够好，还是系统从根上就缺一个能维持任务状态的机制？后面三个实验，就是在不同层次上排查这个瓶颈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t>2026-10-16 续：树结点要从推荐过程里积累的兴趣资产衍生，再用用户输入矫正模型落在哪个地址上。这份资产不是文章分类树。现在没有这项支撑。缺的是两截：向量还不是结点；平台抽出的兴趣可以是推荐自己的回声。兴趣资产缺的两截那一页写了这两截，以及替代库在一步上必须同时成立的条件。下面的闸门、E12–E18 和指定父边，都是手写句子上的最小可行性，不是验证。代码闸门在生成之后执行。未指定父边时，作者看到的提示与关闭该开关时相同，不追加事实三行，地址整袋也不放进提示。发行目录在 v3 打开时，两种提示已逐字相同。这一轮的回复仍是对当前段落的话，没有把账本里另一句的事物写进去。只有指定了父边，才只送那一句。一次指定伞骨那句的调用，回复带上伞骨，没有带上面包屑，新记录的父边指向伞骨。E18 在单独的父边提示上，父边 18/18，整袋 5/18 与 11/18，无记忆父句命中 0。账本非空就改送最近一句会换掉伴写，不作为默认。E17 写成树边后命题互引仍不成立（text 3，tree 0）。E12 两臂作者可见 B 都是 0/12，不裁决代码停机。E13 再出现 8/12、无父枝 5/12，未过支持线。E15 否定共同容器。0.489/0.523 不改。不宣称理解作者。S3 仍关闭。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问题链：从伴写「是否理解作者」收窄到自主性更底层——线索消失后内部状态是否保持并因果使用目标。三项同线不同层；S3 关闭。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这一页是答辩的桥：左边是常规做法——不断加提示词、记忆、历史、反馈，表面确实变好，但本质还是靠输入输出拟合，长程问题没根治。右边是本研究的转向：不再堆输入，而是问内部到底有没有任务相关的状态、它在不在、动它会不会改行为。评委由此理解，这不是哲学思辨，而是工程瓶颈逼出的可检验问题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t>2026-10-16 续：树结点要从推荐过程里积累的兴趣资产衍生，再用用户输入矫正模型落在哪个地址上。这份资产不是文章分类树。现在没有这项支撑。缺的是两截：向量还不是结点；平台抽出的兴趣可以是推荐自己的回声。兴趣资产缺的两截那一页写了这两截，以及替代库在一步上必须同时成立的条件。下面的闸门、E12–E18 和指定父边，都是手写句子上的最小可行性，不是验证。代码闸门在生成之后执行。未指定父边时，作者看到的提示与关闭该开关时相同，不追加事实三行，地址整袋也不放进提示。发行目录在 v3 打开时，两种提示已逐字相同。这一轮的回复仍是对当前段落的话，没有把账本里另一句的事物写进去。只有指定了父边，才只送那一句。一次指定伞骨那句的调用，回复带上伞骨，没有带上面包屑，新记录的父边指向伞骨。E18 在单独的父边提示上，父边 18/18，整袋 5/18 与 11/18，无记忆父句命中 0。账本非空就改送最近一句会换掉伴写，不作为默认。E17 写成树边后命题互引仍不成立（text 3，tree 0）。E12 两臂作者可见 B 都是 0/12，不裁决代码停机。E13 再出现 8/12、无父枝 5/12，未过支持线。E15 否定共同容器。0.489/0.523 不改。不宣称理解作者。S3 仍关闭。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总框架先给路线图：把系统拆成 L1 表层 / L2 关系结构 / L3 内部状态三层。后面四步不是三个并列实验，而是逐层堵死捷径——研究一证明表层读不出内部，研究二证明换表面不改上限，研究三上半区分「存在」与「使用」、下半区分「保持」与「灵活调节」。全程非神创约束加预注册加阴阳对照，不宣称已理解人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研究一：词表 AUC 0.489/0.523 为动机主结果；L3 消融 0.5989/0.6528/0.5730 另栏，不覆盖。提示词有上限与边际递减。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研究二 CSH：修正后 geo mean 4588，CV(log) 0.0110，带 [3840,4894]。仅旁证，不检验目标维持。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研究三：S1g GRU 8/8 维持+因果使用；E2b 3/8 仅存在性；S3 关闭。图9/图10。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论断边界：维持与因果使用有证据；S3 自主设定关闭。半自主二分区分可拆卸脚手架与不可逆世界承诺。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三项贡献各自不可替代：研究一上限、研究二对照效度（修正重跑）、研究三玩具 GRU 维持与因果使用。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局限：玩具尺度；E2b 存在性；fair-RNN 0/8；泄漏预筛；S3 仍关；提示词过不了伴写判断上限。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结论：伴写线提示上限；CSH 对照效度 CV 0.0110；SDIA 玩具 GRU 维持与因果使用。不主张已理解人；S3 关闭。致谢。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这一页只讲缺的两截，不改 0.489/0.523，不改 8/8，不宣称理解作者。对象：推荐过程里积累的兴趣。用它决定下一次给人看什么，是茧房。用它收窄系统猜这个人落在哪个地址，是协变树。用户下一句只做矫正，不充当结点。平台的表没有公开，本仓库也没有行为日志。第一截：YouTube 的公开结构是一个用户向量。MIND 与 ComiRec 是 K 个兴趣向量。深度树匹配把较粗的兴趣放在内部结点，用来决定展示什么。那棵树没有一句可以对回行为的断言，也没有把断言留在生成之外。向量到这种结点的转换，这里一次都没跑。所以 E12–E18 和指定父边仍是手写句子上的最小可行性。第二截要看一次更新的内部。同一次写入把三件事折进同一个坐标：这个人原先可能构成地址的倾向，系统已经决定展示的物品，以及这次展示引出的行为。Chaney、Stewart 与 Engelhardt 的模拟里，用已经被推荐塑造过的行为继续训练，人会更同质，效用不相应提高。从这种坐标切出的兴趣，命名的是回路。拿它去矫正模型，就是把茧房装进人的位置。Monolith 更新的是一张会过期的无碰撞嵌入表，不是带编号、可以审计的结点库。编号若悄悄合并，父边指向混合物，下一句离不开一个确定的地址。坐标过期又不留下旧地址，移动就没有起点。要观察的是地址改变。命中当前措辞还不是移动。替代库因此要自己长。原料是一份可以重读、可以继续追加的行为流。一次行为只是证据。多个兴趣向量留下并列。父边是重聚类之后仍包含该子簇的较粗簇，包含的是证据。父簇移走，旧编号分裂或过期。一个簇成为结点，同一步上要有：跨更新仍稳定的编号，一条父边，一句原始行为能够否证的断言，并且这句断言不进入生成。断言进了提示，地址选择和措辞生成就混在一起。若支撑断言的行为就是已经推送过的物品，结点留在库里当看得见的污染地址，禁止被选为矫正地址。删掉会把缺陷藏起来，用上会把茧房再做一次。这样得到的是缺陷可见的替代库，不是平台内部那一份。公开数据上做一次向量到稳定编号，仍只是可行性。文章分类树的结点正文是准备送进模型的摘要，闭不上这一截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单击此处添加副标题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9CC60D6-B0C2-4EE5-A2C5-5BED0D2797F6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E39D042-40F8-4235-95E2-59588E158991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8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A42D2AB-C752-4FE2-9E28-58DD37752BA6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9EB49379-C154-43AB-A76E-95AE9CED149F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7CC9876-47DE-442E-8F15-E29F3C82FD8F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90B3900-2B7D-457D-899A-1E0CCB19211E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1E61D66-144F-4A20-81C2-0E82B4F8A2FC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4447156-D508-4481-A5DC-DC9C06D9ADE7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59CF7FB-0C0B-4E92-A567-CC5F33597DD0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E662195-64CB-4286-AF3B-5AF41F234640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A7D64A8-CD30-4F01-82F3-3D05350379DD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9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70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subtitle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7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7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7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7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7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7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7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7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79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80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8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8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8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8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85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86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8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8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8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0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91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92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93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94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9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>
            <p:ph type="body" sz="quarter" idx="9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>
            <p:ph type="body" sz="quarter" idx="9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8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9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0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0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0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0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0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05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06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07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0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0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1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1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pic" sz="quarter" idx="11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113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1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1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11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18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1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2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2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22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23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AutoShape 2"/>
          <p:cNvSpPr/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714C548-270C-42EB-A6CB-FE5DE985F53C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6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AutoShape 2"/>
          <p:cNvSpPr/>
          <p:nvPr>
            <p:ph type="body" sz="quarter" idx="6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6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6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6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image" Target="../media/image4.png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tags" Target="../tags/tag9.xml"/><Relationship Id="rId13" Type="http://schemas.openxmlformats.org/officeDocument/2006/relationships/tags" Target="../tags/tag10.xml"/><Relationship Id="rId14" Type="http://schemas.openxmlformats.org/officeDocument/2006/relationships/tags" Target="../tags/tag11.xml"/><Relationship Id="rId15" Type="http://schemas.openxmlformats.org/officeDocument/2006/relationships/tags" Target="../tags/tag12.xml"/><Relationship Id="rId16" Type="http://schemas.openxmlformats.org/officeDocument/2006/relationships/slideLayout" Target="../slideLayouts/slideLayout34.xml"/><Relationship Id="rId1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tags" Target="../tags/tag15.xml"/><Relationship Id="rId4" Type="http://schemas.openxmlformats.org/officeDocument/2006/relationships/tags" Target="../tags/tag16.xml"/><Relationship Id="rId5" Type="http://schemas.openxmlformats.org/officeDocument/2006/relationships/tags" Target="../tags/tag17.xml"/><Relationship Id="rId6" Type="http://schemas.openxmlformats.org/officeDocument/2006/relationships/tags" Target="../tags/tag18.xml"/><Relationship Id="rId7" Type="http://schemas.openxmlformats.org/officeDocument/2006/relationships/tags" Target="../tags/tag19.xml"/><Relationship Id="rId8" Type="http://schemas.openxmlformats.org/officeDocument/2006/relationships/tags" Target="../tags/tag20.xml"/><Relationship Id="rId9" Type="http://schemas.openxmlformats.org/officeDocument/2006/relationships/tags" Target="../tags/tag21.xml"/><Relationship Id="rId10" Type="http://schemas.openxmlformats.org/officeDocument/2006/relationships/tags" Target="../tags/tag22.xml"/><Relationship Id="rId11" Type="http://schemas.openxmlformats.org/officeDocument/2006/relationships/slideLayout" Target="../slideLayouts/slideLayout34.xml"/><Relationship Id="rId1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tags" Target="../tags/tag24.xml"/><Relationship Id="rId3" Type="http://schemas.openxmlformats.org/officeDocument/2006/relationships/tags" Target="../tags/tag25.xml"/><Relationship Id="rId4" Type="http://schemas.openxmlformats.org/officeDocument/2006/relationships/tags" Target="../tags/tag26.xml"/><Relationship Id="rId5" Type="http://schemas.openxmlformats.org/officeDocument/2006/relationships/tags" Target="../tags/tag27.xml"/><Relationship Id="rId6" Type="http://schemas.openxmlformats.org/officeDocument/2006/relationships/tags" Target="../tags/tag28.xml"/><Relationship Id="rId7" Type="http://schemas.openxmlformats.org/officeDocument/2006/relationships/tags" Target="../tags/tag29.xml"/><Relationship Id="rId8" Type="http://schemas.openxmlformats.org/officeDocument/2006/relationships/tags" Target="../tags/tag30.xml"/><Relationship Id="rId9" Type="http://schemas.openxmlformats.org/officeDocument/2006/relationships/slideLayout" Target="../slideLayouts/slideLayout34.xml"/><Relationship Id="rId10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304800" cy="6858000"/>
          </a:xfrm>
          <a:prstGeom prst="roundRect">
            <a:avLst>
              <a:gd name="adj" fmla="val 0"/>
            </a:avLst>
          </a:prstGeom>
          <a:solidFill>
            <a:srgbClr val="0040A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524000" y="1524000"/>
            <a:ext cx="914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4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从词表不可分到门控结构中的目标维持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505585" y="2870200"/>
            <a:ext cx="914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2000" b="1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基于</a:t>
            </a:r>
            <a:r>
              <a:rPr lang="zh-CN" altLang="en-US" sz="2000" b="1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对一个面向现代主义离散情节线伴写系统的论证																							</a:t>
            </a:r>
            <a:endParaRPr lang="zh-CN" altLang="en-US" sz="2000" b="1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14322">
            <a:off x="1524013" y="3295650"/>
            <a:ext cx="3048026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524000" y="36068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From lexical inseparability to goal maintenance in a gated net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24000" y="5080000"/>
            <a:ext cx="914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答辩人：李逾凡　　西北工业大学航空学院　　2026 年 10 月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668000" y="508000"/>
            <a:ext cx="1397000" cy="1397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 Cowrite 工程实践发现问题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889000"/>
            <a:ext cx="1117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一个实际的伴写系统让我看到：工程优化可以改善行为，却仍无法根本解决长期任务中的状态管理问题。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371600"/>
            <a:ext cx="1219200" cy="304800"/>
          </a:xfrm>
          <a:prstGeom prst="roundRect">
            <a:avLst>
              <a:gd name="adj" fmla="val 0"/>
            </a:avLst>
          </a:prstGeom>
          <a:solidFill>
            <a:srgbClr val="0040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研究起点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778000"/>
            <a:ext cx="368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Cowrite 伴写系统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133600"/>
            <a:ext cx="36830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一个「陪你写」的网页。它不替你写，也不评价你写得好不好；在你写不下去时出几张很妙的牌，大部分时候选择不出声。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84200" y="5041900"/>
            <a:ext cx="3683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目标：</a:t>
            </a:r>
            <a:r>
              <a:rPr lang="en-US" sz="12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长期伴写，而非自动生成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70400" y="1371600"/>
            <a:ext cx="1219200" cy="304800"/>
          </a:xfrm>
          <a:prstGeom prst="roundRect">
            <a:avLst>
              <a:gd name="adj" fmla="val 0"/>
            </a:avLst>
          </a:prstGeom>
          <a:solidFill>
            <a:srgbClr val="0040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工程尝试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70400" y="1803400"/>
            <a:ext cx="32004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52400" tIns="88900" rIns="101600" bIns="508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35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Prompt 优化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设计更好的提示词结构与策略。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943600" y="2590800"/>
            <a:ext cx="254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500" b="1" i="0" u="none" strike="noStrike">
                <a:solidFill>
                  <a:srgbClr val="58667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70400" y="2870200"/>
            <a:ext cx="32004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52400" tIns="88900" rIns="101600" bIns="508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35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Memory（OpenViking）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引入记忆层，保存历史写作状态。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943600" y="3657600"/>
            <a:ext cx="254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500" b="1" i="0" u="none" strike="noStrike">
                <a:solidFill>
                  <a:srgbClr val="58667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470400" y="3937000"/>
            <a:ext cx="32004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52400" tIns="88900" rIns="101600" bIns="508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35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反馈机制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通过用户反馈、评分等方式调整。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190789">
            <a:off x="4191176" y="32702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cxnSp>
        <p:nvCxnSpPr>
          <p:cNvPr id="16" name="Connector 16"/>
          <p:cNvCxnSpPr/>
          <p:nvPr/>
        </p:nvCxnSpPr>
        <p:spPr>
          <a:xfrm rot="-190789">
            <a:off x="7696376" y="32702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7" name="AutoShape 17"/>
          <p:cNvSpPr/>
          <p:nvPr/>
        </p:nvSpPr>
        <p:spPr>
          <a:xfrm>
            <a:off x="7975600" y="1371600"/>
            <a:ext cx="3759200" cy="1676400"/>
          </a:xfrm>
          <a:prstGeom prst="roundRect">
            <a:avLst>
              <a:gd name="adj" fmla="val 0"/>
            </a:avLst>
          </a:prstGeom>
          <a:solidFill>
            <a:srgbClr val="0040A0">
              <a:alpha val="7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77800" tIns="114300" rIns="152400" bIns="762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获得的效果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3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局部行为改善</a:t>
            </a:r>
            <a:endParaRPr lang="en-US" sz="13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在部分场景下，系统对风格、上下文和用户意图的保持有所提升。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975600" y="3175000"/>
            <a:ext cx="3759200" cy="1905000"/>
          </a:xfrm>
          <a:prstGeom prst="roundRect">
            <a:avLst>
              <a:gd name="adj" fmla="val 0"/>
            </a:avLst>
          </a:prstGeom>
          <a:solidFill>
            <a:srgbClr val="962828">
              <a:alpha val="6000"/>
            </a:srgbClr>
          </a:solidFill>
          <a:ln w="12700" cap="flat" cmpd="sng">
            <a:solidFill>
              <a:srgbClr val="962828">
                <a:alpha val="30000"/>
              </a:srgbClr>
            </a:solidFill>
            <a:prstDash val="solid"/>
            <a:round/>
          </a:ln>
        </p:spPr>
        <p:txBody>
          <a:bodyPr vert="horz" wrap="square" lIns="177800" tIns="114300" rIns="152400" bIns="762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400" b="1" i="0" u="none" strike="noStrike">
                <a:solidFill>
                  <a:srgbClr val="962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但仍存在的问题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·　何时介入？</a:t>
            </a:r>
            <a:endParaRPr lang="en-US" sz="12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·　保持什么状态？</a:t>
            </a:r>
            <a:endParaRPr lang="en-US" sz="12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·　如何判断当前任务？</a:t>
            </a:r>
            <a:endParaRPr lang="en-US" sz="12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08000" y="5384800"/>
            <a:ext cx="11176000" cy="965200"/>
          </a:xfrm>
          <a:prstGeom prst="roundRect">
            <a:avLst>
              <a:gd name="adj" fmla="val 0"/>
            </a:avLst>
          </a:prstGeom>
          <a:solidFill>
            <a:srgbClr val="0040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304800" tIns="0" rIns="20320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因此，我意识到：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这些问题促使我从工程优化，转向内部任务状态研究。　2026-10-16 续：兴趣资产不在手，树只做了最小可行性，不是验证。代码闸门在生成之后。0.489/0.523 不改。E12 两臂 0/12。不宣称理解作者。</a:t>
            </a:r>
            <a:endParaRPr lang="en-US" sz="1600" b="1" i="0" u="none" strike="noStrike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08000" y="6477000"/>
            <a:ext cx="1117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907030"/>
            <a:ext cx="3632200" cy="20713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58800"/>
            <a:ext cx="10160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面向长期任务执行的内部状态建模问题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289050"/>
            <a:ext cx="10160000" cy="12700"/>
          </a:xfrm>
          <a:prstGeom prst="straightConnector1">
            <a:avLst/>
          </a:prstGeom>
          <a:noFill/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422400"/>
            <a:ext cx="1016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5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研究起点：从伴写 Agent 的工程实践，走到目标相关状态的验证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1016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我的研究起点：伴写 Agent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311400"/>
            <a:ext cx="2540000" cy="50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35000"/>
              </a:srgbClr>
            </a:solidFill>
            <a:prstDash val="solid"/>
            <a:round/>
          </a:ln>
        </p:spPr>
        <p:txBody>
          <a:bodyPr vert="horz" wrap="square" lIns="76200" tIns="0" rIns="7620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用户创作需求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14549">
            <a:off x="3581506" y="25590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8" name="AutoShape 8"/>
          <p:cNvSpPr/>
          <p:nvPr/>
        </p:nvSpPr>
        <p:spPr>
          <a:xfrm>
            <a:off x="3987800" y="2311400"/>
            <a:ext cx="2540000" cy="508000"/>
          </a:xfrm>
          <a:prstGeom prst="roundRect">
            <a:avLst>
              <a:gd name="adj" fmla="val 0"/>
            </a:avLst>
          </a:prstGeom>
          <a:solidFill>
            <a:srgbClr val="0040A0">
              <a:alpha val="10000"/>
            </a:srgbClr>
          </a:solidFill>
          <a:ln w="12700" cap="flat" cmpd="sng">
            <a:solidFill>
              <a:srgbClr val="0040A0">
                <a:alpha val="50000"/>
              </a:srgbClr>
            </a:solidFill>
            <a:prstDash val="solid"/>
            <a:round/>
          </a:ln>
        </p:spPr>
        <p:txBody>
          <a:bodyPr vert="horz" wrap="square" lIns="76200" tIns="0" rIns="7620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5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伴写 Agent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14549">
            <a:off x="6553306" y="25590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0" name="AutoShape 10"/>
          <p:cNvSpPr/>
          <p:nvPr/>
        </p:nvSpPr>
        <p:spPr>
          <a:xfrm>
            <a:off x="6959600" y="2311400"/>
            <a:ext cx="2540000" cy="50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35000"/>
              </a:srgbClr>
            </a:solidFill>
            <a:prstDash val="solid"/>
            <a:round/>
          </a:ln>
        </p:spPr>
        <p:txBody>
          <a:bodyPr vert="horz" wrap="square" lIns="76200" tIns="0" rIns="7620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长期多轮交互生成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149600"/>
            <a:ext cx="32131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39700" tIns="101600" rIns="114300" bIns="508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300" b="1" i="0" u="none" strike="noStrike">
                <a:solidFill>
                  <a:srgbClr val="962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观察 1 · 风格保持难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长程写作中，文风与人设随轮次漂移。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483100" y="3149600"/>
            <a:ext cx="32131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39700" tIns="101600" rIns="114300" bIns="508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300" b="1" i="0" u="none" strike="noStrike">
                <a:solidFill>
                  <a:srgbClr val="962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观察 2 · 意图易漂移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作者的中期目标，在多轮后被新话题覆盖。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950200" y="3149600"/>
            <a:ext cx="32131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39700" tIns="101600" rIns="114300" bIns="508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300" b="1" i="0" u="none" strike="noStrike">
                <a:solidFill>
                  <a:srgbClr val="962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观察 3 · 调优遇瓶颈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反复加 prompt、memory 条目，改善有限且互相干扰。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16000" y="4775200"/>
            <a:ext cx="10160000" cy="787400"/>
          </a:xfrm>
          <a:prstGeom prst="roundRect">
            <a:avLst>
              <a:gd name="adj" fmla="val 0"/>
            </a:avLst>
          </a:prstGeom>
          <a:solidFill>
            <a:srgbClr val="0040A0">
              <a:alpha val="8000"/>
            </a:srgbClr>
          </a:solidFill>
          <a:ln w="12700" cap="flat" cmpd="sng">
            <a:solidFill>
              <a:srgbClr val="0040A0">
                <a:alpha val="35000"/>
              </a:srgbClr>
            </a:solidFill>
            <a:prstDash val="solid"/>
            <a:round/>
          </a:ln>
        </p:spPr>
        <p:txBody>
          <a:bodyPr vert="horz" wrap="square" lIns="177800" tIns="0" rIns="15240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5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关键问题：这些只是工程实现不足，还是系统缺少更基础的「任务状态机制」？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本研究检验后者——内部是否存在能维持、校验并驱动任务的状态。</a:t>
            </a:r>
            <a:endParaRPr lang="en-US" sz="12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016000" y="6400800"/>
            <a:ext cx="1016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问题链｜从「是否理解人」到自主性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727200"/>
            <a:ext cx="1016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7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笔者</a:t>
            </a:r>
            <a:r>
              <a:rPr lang="en-US" sz="17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起点是文学伴写与非指令陪伴中「系统是否理解作者」一类主张。行为看起来指向某个目标，并不意味着目标已由内部状态承载——缺少干预与撤除检验时，既无法证实，也难以证伪。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29400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3276600"/>
            <a:ext cx="431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7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起点：是否理解人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文学伴写 / 非指令陪伴提出主动介入；介入依赖对作者状态的判断，而该判断无法从显式指令中读出。</a:t>
            </a:r>
            <a:endParaRPr lang="en-US" sz="16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7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向下挖：自主性更底层</a:t>
            </a:r>
            <a:endParaRPr lang="en-US" sz="17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在讨论「自生成目标」之前，更基础的问题是：环境线索消失后，内部状态能否继续承载目标并因果影响行为。</a:t>
            </a:r>
            <a:endParaRPr lang="en-US" sz="16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4374">
            <a:off x="4343386" y="4667279"/>
            <a:ext cx="2794029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146800" y="3276600"/>
            <a:ext cx="5029200" cy="289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7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三项研究：同线不同层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伴写阴性、符号旁证与目标验收共享假阳性控制，但不是对同一假设的三次重复检验。</a:t>
            </a:r>
            <a:endParaRPr lang="en-US" sz="16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7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论断边界</a:t>
            </a:r>
            <a:endParaRPr lang="en-US" sz="1700" b="1" i="0" u="none" strike="noStrike">
              <a:solidFill>
                <a:srgbClr val="0040A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只推进到保持与因果使用；自主设定目标的协议未运行，保持关闭。不宣称已理解人。</a:t>
            </a:r>
            <a:endParaRPr lang="en-US" sz="16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  <a:p>
            <a:pPr marL="0" indent="0" algn="r">
              <a:lnSpc>
                <a:spcPct val="108000"/>
              </a:lnSpc>
            </a:pPr>
            <a:endParaRPr sz="1600"/>
          </a:p>
          <a:p>
            <a:pPr marL="0" indent="0" algn="r">
              <a:lnSpc>
                <a:spcPct val="108000"/>
              </a:lnSpc>
            </a:pPr>
            <a:endParaRPr sz="1700"/>
          </a:p>
          <a:p>
            <a:pPr marL="0" indent="0" algn="r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09600"/>
            <a:ext cx="10160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 Agent 调优问题，到内部状态问题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365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498600"/>
            <a:ext cx="1016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不是突然研究「目标」，而是工程瓶颈反复出现后，逼出的更基础问题。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108200"/>
            <a:ext cx="4826000" cy="3251200"/>
          </a:xfrm>
          <a:prstGeom prst="roundRect">
            <a:avLst>
              <a:gd name="adj" fmla="val 0"/>
            </a:avLst>
          </a:prstGeom>
          <a:solidFill>
            <a:srgbClr val="787878">
              <a:alpha val="8000"/>
            </a:srgbClr>
          </a:solidFill>
          <a:ln w="12700" cap="flat" cmpd="sng">
            <a:solidFill>
              <a:srgbClr val="787878">
                <a:alpha val="45000"/>
              </a:srgbClr>
            </a:solidFill>
            <a:prstDash val="solid"/>
            <a:round/>
          </a:ln>
        </p:spPr>
        <p:txBody>
          <a:bodyPr vert="horz" wrap="square" lIns="203200" tIns="152400" rIns="152400" bIns="10160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传统思路：在输入输出上堆优化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· 增加 prompt　· 增加 memory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· 增加历史记录        　· 增加反馈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ctr">
              <a:lnSpc>
                <a:spcPct val="92000"/>
              </a:lnSpc>
            </a:pPr>
            <a:r>
              <a:rPr lang="en-US" sz="1400" b="0" i="0" u="none" strike="noStrike">
                <a:solidFill>
                  <a:srgbClr val="78787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↓</a:t>
            </a:r>
            <a:endParaRPr lang="en-US" sz="1400" b="0" i="0" u="none" strike="noStrike">
              <a:solidFill>
                <a:srgbClr val="78787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35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表面行为改善</a:t>
            </a:r>
            <a:endParaRPr lang="en-US" sz="135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250" b="0" i="0" u="none" strike="noStrike">
                <a:solidFill>
                  <a:srgbClr val="962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但仍靠大量输入输出拟合，长程漂移反复出现。</a:t>
            </a:r>
            <a:endParaRPr lang="en-US" sz="1250" b="0" i="0" u="none" strike="noStrike">
              <a:solidFill>
                <a:srgbClr val="9628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0" y="2108200"/>
            <a:ext cx="4826000" cy="3251200"/>
          </a:xfrm>
          <a:prstGeom prst="roundRect">
            <a:avLst>
              <a:gd name="adj" fmla="val 0"/>
            </a:avLst>
          </a:prstGeom>
          <a:solidFill>
            <a:srgbClr val="0040A0">
              <a:alpha val="7000"/>
            </a:srgbClr>
          </a:solidFill>
          <a:ln w="12700" cap="flat" cmpd="sng">
            <a:solidFill>
              <a:srgbClr val="0040A0">
                <a:alpha val="40000"/>
              </a:srgbClr>
            </a:solidFill>
            <a:prstDash val="solid"/>
            <a:round/>
          </a:ln>
        </p:spPr>
        <p:txBody>
          <a:bodyPr vert="horz" wrap="square" lIns="203200" tIns="152400" rIns="152400" bIns="10160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本研究：转向检验内部状态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5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是否存在任务相关内部状态？</a:t>
            </a:r>
            <a:endParaRPr lang="en-US" sz="135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ctr">
              <a:lnSpc>
                <a:spcPct val="92000"/>
              </a:lnSpc>
            </a:pPr>
            <a:r>
              <a:rPr lang="en-US" sz="1400" b="0" i="0" u="none" strike="noStrike">
                <a:solidFill>
                  <a:srgbClr val="004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↓</a:t>
            </a:r>
            <a:endParaRPr lang="en-US" sz="1400" b="0" i="0" u="none" strike="noStrike">
              <a:solidFill>
                <a:srgbClr val="0040A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35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线索消失后，它是否保持？</a:t>
            </a:r>
            <a:endParaRPr lang="en-US" sz="135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ctr">
              <a:lnSpc>
                <a:spcPct val="92000"/>
              </a:lnSpc>
            </a:pPr>
            <a:r>
              <a:rPr lang="en-US" sz="1400" b="0" i="0" u="none" strike="noStrike">
                <a:solidFill>
                  <a:srgbClr val="004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↓</a:t>
            </a:r>
            <a:endParaRPr lang="en-US" sz="1400" b="0" i="0" u="none" strike="noStrike">
              <a:solidFill>
                <a:srgbClr val="0040A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35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干预它，行为是否改变？</a:t>
            </a:r>
            <a:endParaRPr lang="en-US" sz="135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5664200"/>
            <a:ext cx="10160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工程瓶颈反复出现，指向同一个怀疑：缺的不是更多输入，而是内部「任务状态」。　后续把闸门从提示词移到代码，而不是再加一段提示。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6451600"/>
            <a:ext cx="1016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09600"/>
            <a:ext cx="10160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9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总框架｜逐层排除捷径，收敛到一个有界判决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365250"/>
            <a:ext cx="10160000" cy="12700"/>
          </a:xfrm>
          <a:prstGeom prst="straightConnector1">
            <a:avLst/>
          </a:prstGeom>
          <a:noFill/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498600"/>
            <a:ext cx="1016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三层本体：L1 表层 · L2 关系结构 · L3 内部状态 —— 下面四步，每步堵死一条捷径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006600"/>
            <a:ext cx="3225800" cy="838200"/>
          </a:xfrm>
          <a:prstGeom prst="roundRect">
            <a:avLst>
              <a:gd name="adj" fmla="val 0"/>
            </a:avLst>
          </a:prstGeom>
          <a:solidFill>
            <a:srgbClr val="0040A0">
              <a:alpha val="6000"/>
            </a:srgbClr>
          </a:solidFill>
          <a:ln w="12700" cap="flat" cmpd="sng">
            <a:solidFill>
              <a:srgbClr val="0040A0">
                <a:alpha val="30000"/>
              </a:srgbClr>
            </a:solidFill>
            <a:prstDash val="solid"/>
            <a:round/>
          </a:ln>
        </p:spPr>
        <p:txBody>
          <a:bodyPr vert="horz" wrap="square" lIns="127000" tIns="76200" rIns="7620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L1 表层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可观测符号 · 行为 · 输入输出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483100" y="2006600"/>
            <a:ext cx="3225800" cy="838200"/>
          </a:xfrm>
          <a:prstGeom prst="roundRect">
            <a:avLst>
              <a:gd name="adj" fmla="val 0"/>
            </a:avLst>
          </a:prstGeom>
          <a:solidFill>
            <a:srgbClr val="0040A0">
              <a:alpha val="6000"/>
            </a:srgbClr>
          </a:solidFill>
          <a:ln w="12700" cap="flat" cmpd="sng">
            <a:solidFill>
              <a:srgbClr val="0040A0">
                <a:alpha val="30000"/>
              </a:srgbClr>
            </a:solidFill>
            <a:prstDash val="solid"/>
            <a:round/>
          </a:ln>
        </p:spPr>
        <p:txBody>
          <a:bodyPr vert="horz" wrap="square" lIns="127000" tIns="76200" rIns="7620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L2 关系结构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世界动力学 · 任务拓扑（不可写入）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950200" y="2006600"/>
            <a:ext cx="3225800" cy="838200"/>
          </a:xfrm>
          <a:prstGeom prst="roundRect">
            <a:avLst>
              <a:gd name="adj" fmla="val 0"/>
            </a:avLst>
          </a:prstGeom>
          <a:solidFill>
            <a:srgbClr val="0040A0">
              <a:alpha val="6000"/>
            </a:srgbClr>
          </a:solidFill>
          <a:ln w="12700" cap="flat" cmpd="sng">
            <a:solidFill>
              <a:srgbClr val="0040A0">
                <a:alpha val="30000"/>
              </a:srgbClr>
            </a:solidFill>
            <a:prstDash val="solid"/>
            <a:round/>
          </a:ln>
        </p:spPr>
        <p:txBody>
          <a:bodyPr vert="horz" wrap="square" lIns="127000" tIns="76200" rIns="7620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L3 内部状态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隐层表征 · 记忆 · 目标载体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3022600"/>
            <a:ext cx="1016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四步递进：每一步，都否定一个天真预期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429000"/>
            <a:ext cx="23876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35000"/>
              </a:srgbClr>
            </a:solidFill>
            <a:prstDash val="solid"/>
            <a:round/>
          </a:ln>
        </p:spPr>
        <p:txBody>
          <a:bodyPr vert="horz" wrap="square" lIns="114300" tIns="101600" rIns="114300" bIns="762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4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第 1 步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表层读不出内部</a:t>
            </a:r>
            <a:endParaRPr lang="en-US" sz="14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4000"/>
              </a:lnSpc>
            </a:pPr>
            <a:r>
              <a:rPr lang="en-US" sz="11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词表反推作者状态 AUC≈0.5，提示词堆叠反降</a:t>
            </a:r>
            <a:endParaRPr lang="en-US" sz="11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5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 研究一　堵死「读文本＝读心」</a:t>
            </a:r>
            <a:endParaRPr lang="en-US" sz="105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342635">
            <a:off x="3416617" y="44894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1" name="AutoShape 11"/>
          <p:cNvSpPr/>
          <p:nvPr/>
        </p:nvSpPr>
        <p:spPr>
          <a:xfrm>
            <a:off x="3581400" y="3429000"/>
            <a:ext cx="23876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35000"/>
              </a:srgbClr>
            </a:solidFill>
            <a:prstDash val="solid"/>
            <a:round/>
          </a:ln>
        </p:spPr>
        <p:txBody>
          <a:bodyPr vert="horz" wrap="square" lIns="114300" tIns="101600" rIns="114300" bIns="762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4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第 2 步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表面不改上限</a:t>
            </a:r>
            <a:endParaRPr lang="en-US" sz="14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4000"/>
              </a:lnSpc>
            </a:pPr>
            <a:r>
              <a:rPr lang="en-US" sz="11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换中/英/Lisp/空符号，阈值几共阈 CV 0.0110</a:t>
            </a:r>
            <a:endParaRPr lang="en-US" sz="11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5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 研究二　堵死「打磨表层抬上限」</a:t>
            </a:r>
            <a:endParaRPr lang="en-US" sz="105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-342635">
            <a:off x="5982017" y="44894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3" name="AutoShape 13"/>
          <p:cNvSpPr/>
          <p:nvPr/>
        </p:nvSpPr>
        <p:spPr>
          <a:xfrm>
            <a:off x="6248400" y="3429000"/>
            <a:ext cx="23876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35000"/>
              </a:srgbClr>
            </a:solidFill>
            <a:prstDash val="solid"/>
            <a:round/>
          </a:ln>
        </p:spPr>
        <p:txBody>
          <a:bodyPr vert="horz" wrap="square" lIns="114300" tIns="101600" rIns="114300" bIns="762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4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第 3 步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存在 ≠ 使用</a:t>
            </a:r>
            <a:endParaRPr lang="en-US" sz="14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4000"/>
              </a:lnSpc>
            </a:pPr>
            <a:r>
              <a:rPr lang="en-US" sz="11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探针读得出 ≠ 因果在用；写通道钉错才判决</a:t>
            </a:r>
            <a:endParaRPr lang="en-US" sz="11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5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 研究三上　从「有没有」到「用没用」</a:t>
            </a:r>
            <a:endParaRPr lang="en-US" sz="105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342635">
            <a:off x="8649017" y="44894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5" name="AutoShape 15"/>
          <p:cNvSpPr/>
          <p:nvPr/>
        </p:nvSpPr>
        <p:spPr>
          <a:xfrm>
            <a:off x="8915400" y="3429000"/>
            <a:ext cx="23876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62828">
                <a:alpha val="45000"/>
              </a:srgbClr>
            </a:solidFill>
            <a:prstDash val="solid"/>
            <a:round/>
          </a:ln>
        </p:spPr>
        <p:txBody>
          <a:bodyPr vert="horz" wrap="square" lIns="114300" tIns="101600" rIns="114300" bIns="762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96282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第 4 步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保持 ≠ 灵活调节</a:t>
            </a:r>
            <a:endParaRPr lang="en-US" sz="14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4000"/>
              </a:lnSpc>
            </a:pPr>
            <a:r>
              <a:rPr lang="en-US" sz="11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加压网格 8/8→3/8，学不会信外/信内切换</a:t>
            </a:r>
            <a:endParaRPr lang="en-US" sz="11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5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 研究三下　结构瓶颈，S3 关闭</a:t>
            </a:r>
            <a:endParaRPr lang="en-US" sz="105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016000" y="5740400"/>
            <a:ext cx="10160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全程验收协议：非神创约束 + 预注册 · 8 种子 · 组门 ≥7/8 · VOID 计入分母 · 证据 L0–L3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6350000"/>
            <a:ext cx="1016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7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 步｜表层读不出内部：伴写 / VERIFY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778000"/>
            <a:ext cx="4826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700" b="1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对应工程问题：增加输入信息，能否直接恢复任务状态？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先试最直接的路——从表层反推内部，此路不通；加厚表面不是出路。</a:t>
            </a:r>
            <a:endParaRPr lang="en-US" sz="15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9046">
            <a:off x="1016008" y="2813050"/>
            <a:ext cx="4826017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3048000"/>
            <a:ext cx="4826000" cy="233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词表　同语言 AUC 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0.489</a:t>
            </a:r>
            <a:r>
              <a:rPr lang="en-US" sz="15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　跨语言</a:t>
            </a: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0.523</a:t>
            </a:r>
            <a:r>
              <a:rPr lang="en-US" sz="15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　近随机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对话密度假信号　跨语言 0.627 → 同语言 0.425</a:t>
            </a:r>
            <a:endParaRPr lang="en-US" sz="15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死特征约占权重 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65%</a:t>
            </a:r>
            <a:endParaRPr lang="en-US" sz="15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L3 提示词消融（另栏）　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0.5989 / 0.6528 / 0.5730</a:t>
            </a:r>
            <a:endParaRPr lang="en-US" sz="15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第三臂回落 0.08：堆叠条款边际递减，不替换 0.489/0.523</a:t>
            </a:r>
            <a:endParaRPr lang="en-US" sz="15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9046">
            <a:off x="1016008" y="5530850"/>
            <a:ext cx="4826017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56896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提示词框架有上限与边际递减；词表阴性仍是动机主结果。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4597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图2　(a) 词表 AUC 0.489/0.523；(b) L3 消融另栏，不替换 (a)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06</a:t>
            </a:r>
            <a:endParaRPr lang="en-US" sz="1100"/>
          </a:p>
        </p:txBody>
      </p:sp>
      <p:pic>
        <p:nvPicPr>
          <p:cNvPr id="1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704975"/>
            <a:ext cx="5318760" cy="2838450"/>
          </a:xfrm>
          <a:prstGeom prst="rect">
            <a:avLst/>
          </a:prstGeom>
        </p:spPr>
      </p:pic>
      <p:sp>
        <p:nvSpPr>
          <p:cNvPr id="9" name="AutoShape 12"/>
          <p:cNvSpPr/>
          <p:nvPr/>
        </p:nvSpPr>
        <p:spPr>
          <a:xfrm>
            <a:off x="6350000" y="5207000"/>
            <a:ext cx="4826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300" b="1" i="0" u="none" strike="noStrike">
                <a:solidFill>
                  <a:srgbClr val="962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边界：阴性 ≠ 状态不存在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25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失败只是当前表层观察变量不足以恢复隐藏状态——这正是后续要进到内部状态、直接做因果检验的原因。　界面侧的代码闸门不把这条曲线下面积抬离随机，也不等于已经读出内部状态。</a:t>
            </a:r>
            <a:endParaRPr lang="en-US" sz="125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2 步｜换表达形式能否突破能力边界？表面包装不是根本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148070" y="6527800"/>
            <a:ext cx="5461000" cy="3048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图4–5　修正后六表面；阈值带 [3840, 4894]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89707">
            <a:off x="4737090" y="3841769"/>
            <a:ext cx="4241819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6799580" y="182753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>
            <p:custDataLst>
              <p:tags r:id="rId3"/>
            </p:custDataLst>
          </p:nvPr>
        </p:nvSpPr>
        <p:spPr>
          <a:xfrm>
            <a:off x="7307580" y="1776730"/>
            <a:ext cx="3556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几何均值 4588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六真实表面阈值几何均值 4588 例（τ=0.60，surface_fix2）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6799580" y="286893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>
            <p:custDataLst>
              <p:tags r:id="rId5"/>
            </p:custDataLst>
          </p:nvPr>
        </p:nvSpPr>
        <p:spPr>
          <a:xfrm>
            <a:off x="7307580" y="2818130"/>
            <a:ext cx="3556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CV(log) 0.0110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对数变异系数 0.0110；id 位置拉丁方配平后表面几乎共阈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6799580" y="391033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>
            <p:custDataLst>
              <p:tags r:id="rId7"/>
            </p:custDataLst>
          </p:nvPr>
        </p:nvSpPr>
        <p:spPr>
          <a:xfrm>
            <a:off x="7307580" y="3859530"/>
            <a:ext cx="3556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阈值带 [3840, 4894]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英文 3840 – 数学 4894；配对差区间多含零——对照效度已修订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6799580" y="495173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>
            <p:custDataLst>
              <p:tags r:id="rId9"/>
            </p:custDataLst>
          </p:nvPr>
        </p:nvSpPr>
        <p:spPr>
          <a:xfrm>
            <a:off x="7307580" y="4900930"/>
            <a:ext cx="3556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仅作该任务旁证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不检验目标维持；不否证提示工程；支持「加厚表面≠抬上限」的收窄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07</a:t>
            </a:r>
            <a:endParaRPr lang="en-US" sz="1100"/>
          </a:p>
        </p:txBody>
      </p:sp>
      <p:pic>
        <p:nvPicPr>
          <p:cNvPr id="19" name="Picture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5065" y="1514475"/>
            <a:ext cx="5293995" cy="2673350"/>
          </a:xfrm>
          <a:prstGeom prst="rect">
            <a:avLst/>
          </a:prstGeom>
        </p:spPr>
      </p:pic>
      <p:pic>
        <p:nvPicPr>
          <p:cNvPr id="20" name="Picture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1420" y="4216400"/>
            <a:ext cx="4767580" cy="2550795"/>
          </a:xfrm>
          <a:prstGeom prst="rect">
            <a:avLst/>
          </a:prstGeom>
        </p:spPr>
      </p:pic>
      <p:pic>
        <p:nvPicPr>
          <p:cNvPr id="4" name="Picture 1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7112000" y="177800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1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7112000" y="281940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1" name="Picture 1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7112000" y="386080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3" name="Picture 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7112000" y="490220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3–4 步｜落到内部：从「存在≠使用」到「保持≠调节」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3340100"/>
            <a:ext cx="4699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S1g　GRU 玩具任务 </a:t>
            </a: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8/8</a:t>
            </a:r>
            <a:r>
              <a:rPr lang="en-US" sz="14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　</a:t>
            </a:r>
            <a:r>
              <a:rPr lang="en-US" sz="14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Wilson [0.676, 1.000]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仅世界回报 + 行动者–评论者；维持并因果使用环境线索目标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E2b　加压网格预算上限内 </a:t>
            </a: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3/8†</a:t>
            </a:r>
            <a:r>
              <a:rPr lang="en-US" sz="14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　仅存在性证据</a:t>
            </a:r>
            <a:endParaRPr lang="en-US" sz="1400" b="0" i="0" u="none" strike="noStrike">
              <a:solidFill>
                <a:srgbClr val="2A2D3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失败多见定向成立而特异性不成立；不回写组门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algn="l">
              <a:lnSpc>
                <a:spcPct val="117000"/>
              </a:lnSpc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33375" y="1595120"/>
            <a:ext cx="5635625" cy="28181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969000" y="1573530"/>
            <a:ext cx="5678170" cy="283972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5969000" y="5130800"/>
            <a:ext cx="5207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图9 组通过率（含 S1g 8/8）；图10 加压必要性检验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</a:p>
          <a:p>
            <a:pPr marL="0" indent="0" algn="l">
              <a:lnSpc>
                <a:spcPct val="108000"/>
              </a:lnSpc>
            </a:pPr>
          </a:p>
          <a:p>
            <a:pPr marL="0" indent="0"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</a:p>
        </p:txBody>
      </p:sp>
      <p:sp>
        <p:nvSpPr>
          <p:cNvPr id="8" name="AutoShape 8"/>
          <p:cNvSpPr/>
          <p:nvPr/>
        </p:nvSpPr>
        <p:spPr>
          <a:xfrm>
            <a:off x="5969000" y="5384800"/>
            <a:ext cx="5207000" cy="4572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门控为设计者先验；阳性不表述为系统发现了目标内容。无门 0/8†、ES 主任务 4/8† 只划边界。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4296">
            <a:off x="1016004" y="5861050"/>
            <a:ext cx="10160016" cy="12700"/>
          </a:xfrm>
          <a:prstGeom prst="straightConnector1">
            <a:avLst/>
          </a:prstGeom>
          <a:noFill/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08</a:t>
            </a:r>
            <a:endParaRPr lang="en-US" sz="1100"/>
          </a:p>
        </p:txBody>
      </p:sp>
      <p:sp>
        <p:nvSpPr>
          <p:cNvPr id="12" name="AutoShape 10"/>
          <p:cNvSpPr/>
          <p:nvPr/>
        </p:nvSpPr>
        <p:spPr>
          <a:xfrm>
            <a:off x="1016000" y="5892800"/>
            <a:ext cx="1016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有界判决：玩具任务上目标维持并因果使用；加压仅存在性。「异常→内部自校验→策略调整」的闭环未测，故 S3 自主设定关闭。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论断边界｜维持 · 因果使用 · 自主设定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7272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维持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目标信息保持</a:t>
            </a:r>
            <a:endParaRPr lang="en-US" sz="15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证据支持：非线索解码与撤除后保持（玩具任务）。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5371353">
            <a:off x="3505174" y="2482903"/>
            <a:ext cx="1524053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21200" y="17272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因果使用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干预改变行为</a:t>
            </a:r>
            <a:endParaRPr lang="en-US" sz="15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证据支持：写通道定向 + 特异性（玩具）。加压未过组门。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71353">
            <a:off x="7010374" y="2482903"/>
            <a:ext cx="1524053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026400" y="1727200"/>
            <a:ext cx="31496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自主设定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S3 关闭</a:t>
            </a:r>
            <a:endParaRPr lang="en-US" sz="15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协议未运行；不主张系统已自选或已有目标。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34290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半自主二分：可拆卸脚手架（门控先验、预算、学习率）vs 不可逆世界承诺（网格毒性、切换作废进度）。前者记设计者贡献；后者写入动力学。</a:t>
            </a:r>
            <a:endParaRPr lang="en-US" sz="16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016000" y="4368800"/>
          <a:ext cx="10160000" cy="177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4318000"/>
                <a:gridCol w="43180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40A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层次</a:t>
                      </a:r>
                      <a:endParaRPr lang="en-US" sz="1600"/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CE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本文主张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CE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证据状态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CEE">
                        <a:alpha val="100000"/>
                      </a:srgbClr>
                    </a:solidFill>
                  </a:tcPr>
                </a:tc>
              </a:tr>
              <a:tr h="330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目标信息维持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线索消失后仍可解码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/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撤除后保持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玩具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 GRU 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支持；加压保持改善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0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因果使用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写通道干预按预期改行为且具特异性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玩具支持；加压多为存在性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0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自主设定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局内自选目标（非线索指定）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S3 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关闭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 · 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不主张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0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半自主二分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可拆卸脚手架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 ≠ 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不可逆世界承诺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门控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/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预算可撤；毒性网格写入世界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AutoShape 11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09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9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四层收窄之后：唯一敢下的有界判决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1016000" y="1727200"/>
            <a:ext cx="10160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三实验不是平行三块，而是逐层堵死捷径后收敛到的一个判决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016000" y="2590800"/>
            <a:ext cx="66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905000" y="2540000"/>
            <a:ext cx="9271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研究一　</a:t>
            </a:r>
            <a:r>
              <a:rPr lang="en-US" sz="20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模式分类与介入判断的可检验上限：词表近随机；提示词消融另栏且边际递减</a:t>
            </a:r>
            <a:r>
              <a:rPr lang="en-US" sz="20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——</a:t>
            </a:r>
            <a:r>
              <a:rPr lang="en-US" sz="20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不覆盖</a:t>
            </a:r>
            <a:r>
              <a:rPr lang="en-US" sz="20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0.489/0.523</a:t>
            </a:r>
            <a:r>
              <a:rPr lang="en-US" sz="20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。</a:t>
            </a:r>
            <a:endParaRPr lang="en-US" sz="2000"/>
          </a:p>
        </p:txBody>
      </p:sp>
      <p:cxnSp>
        <p:nvCxnSpPr>
          <p:cNvPr id="7" name="Connector 7"/>
          <p:cNvCxnSpPr/>
          <p:nvPr>
            <p:custDataLst>
              <p:tags r:id="rId4"/>
            </p:custDataLst>
          </p:nvPr>
        </p:nvCxnSpPr>
        <p:spPr>
          <a:xfrm rot="-4297">
            <a:off x="1016004" y="36512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016000" y="3860800"/>
            <a:ext cx="66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905000" y="3810000"/>
            <a:ext cx="9271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研究二　</a:t>
            </a:r>
            <a:r>
              <a:rPr lang="en-US" sz="20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表面形式混淆与对照效度：修正后重跑，</a:t>
            </a:r>
            <a:r>
              <a:rPr lang="en-US" sz="20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geo mean 4588</a:t>
            </a:r>
            <a:r>
              <a:rPr lang="en-US" sz="20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、</a:t>
            </a:r>
            <a:r>
              <a:rPr lang="en-US" sz="20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CV(log) 0.0110</a:t>
            </a:r>
            <a:r>
              <a:rPr lang="en-US" sz="20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；仅旁证，不检验目标维持。</a:t>
            </a:r>
            <a:endParaRPr lang="en-US" sz="2000"/>
          </a:p>
        </p:txBody>
      </p:sp>
      <p:cxnSp>
        <p:nvCxnSpPr>
          <p:cNvPr id="10" name="Connector 10"/>
          <p:cNvCxnSpPr/>
          <p:nvPr>
            <p:custDataLst>
              <p:tags r:id="rId7"/>
            </p:custDataLst>
          </p:nvPr>
        </p:nvCxnSpPr>
        <p:spPr>
          <a:xfrm rot="-4297">
            <a:off x="1016004" y="49212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1016000" y="5130800"/>
            <a:ext cx="66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1905000" y="5080000"/>
            <a:ext cx="9271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研究三　</a:t>
            </a:r>
            <a:r>
              <a:rPr lang="en-US" sz="20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门控下环境线索目标的维持与因果使用：玩具</a:t>
            </a:r>
            <a:r>
              <a:rPr lang="en-US" sz="20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GRU 8/8</a:t>
            </a:r>
            <a:r>
              <a:rPr lang="en-US" sz="20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；加压仅存在性；</a:t>
            </a:r>
            <a:r>
              <a:rPr lang="en-US" sz="20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S3 </a:t>
            </a:r>
            <a:r>
              <a:rPr lang="en-US" sz="20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关闭。</a:t>
            </a:r>
            <a:endParaRPr lang="en-US" sz="2000"/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10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局限与开放问题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587500"/>
            <a:ext cx="1016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主张强度不得超过证据：玩具尺度上的有界判决，不外推产品级模型，不宣称已理解人。</a:t>
            </a:r>
            <a:endParaRPr lang="en-US" sz="20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26733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2952750"/>
            <a:ext cx="431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尺度与对照</a:t>
            </a:r>
            <a:endParaRPr lang="en-US" sz="2000"/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玩具尺度；E2b 3/8† 仅存在性、非普适；fair-RNN / 无门对照有限搜索后仍 0/8†。</a:t>
            </a:r>
            <a:endParaRPr lang="en-US" sz="14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程序边界</a:t>
            </a:r>
            <a:endParaRPr lang="en-US" sz="20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泄漏预筛改变科学种子池；S3 仍关闭；† 结果不回写组门。</a:t>
            </a:r>
            <a:endParaRPr lang="en-US" sz="18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4374">
            <a:off x="4343386" y="4667279"/>
            <a:ext cx="2794029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146800" y="2851150"/>
            <a:ext cx="5029200" cy="289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伴写上限</a:t>
            </a:r>
            <a:endParaRPr lang="en-US" sz="2000"/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外挂提示词过不了伴写判断上限：L3 最高约 0.65 且第三臂回落；不覆盖词表阴性。　代码闸门只管出口是否执行，不把曲线下面积抬过随机。</a:t>
            </a:r>
            <a:endParaRPr lang="en-US" sz="18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开放</a:t>
            </a:r>
            <a:endParaRPr lang="en-US" sz="2000" b="1" i="0" u="none" strike="noStrike">
              <a:solidFill>
                <a:srgbClr val="0040A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假智能体补验准则；加压预算扫描；因果使用稳定过门后才谈重开 S3。</a:t>
            </a:r>
            <a:endParaRPr lang="en-US" sz="18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11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9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结论｜层层排除捷径后，落定一个有界判决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1016000" y="1727200"/>
            <a:ext cx="66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905000" y="1676400"/>
            <a:ext cx="9271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伴写线　介入判断的外挂提示上限：词表近随机；堆叠提示词有上限与边际递减（L3 另栏）。　出口闸门在生成之后执行；未指定父边时不改提示。树侧只是最小可行性，不是验证。兴趣资产不在手。不改该数字，不宣称理解作者。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/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/>
            </a: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/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/>
            </a:r>
            <a:endParaRPr lang="en-US" sz="1600"/>
          </a:p>
        </p:txBody>
      </p:sp>
      <p:cxnSp>
        <p:nvCxnSpPr>
          <p:cNvPr id="6" name="Connector 6"/>
          <p:cNvCxnSpPr/>
          <p:nvPr>
            <p:custDataLst>
              <p:tags r:id="rId3"/>
            </p:custDataLst>
          </p:nvPr>
        </p:nvCxnSpPr>
        <p:spPr>
          <a:xfrm rot="-4297">
            <a:off x="1016004" y="25844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016000" y="2743200"/>
            <a:ext cx="66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905000" y="2692400"/>
            <a:ext cx="9271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CSH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　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表面形式对照效度（修正后）：阈值</a:t>
            </a: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geo mean 4588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，</a:t>
            </a: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CV(log) 0.0110——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仅旁证。</a:t>
            </a:r>
            <a:endParaRPr lang="en-US" sz="1600"/>
          </a:p>
        </p:txBody>
      </p:sp>
      <p:cxnSp>
        <p:nvCxnSpPr>
          <p:cNvPr id="9" name="Connector 9"/>
          <p:cNvCxnSpPr/>
          <p:nvPr>
            <p:custDataLst>
              <p:tags r:id="rId6"/>
            </p:custDataLst>
          </p:nvPr>
        </p:nvCxnSpPr>
        <p:spPr>
          <a:xfrm rot="-4297">
            <a:off x="1016004" y="36004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1016000" y="3759200"/>
            <a:ext cx="66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1905000" y="3708400"/>
            <a:ext cx="9271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SDIA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　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玩具</a:t>
            </a: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GRU 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经世界回报维持并因果使用环境线索目标（</a:t>
            </a: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8/8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）；加压仅存在性。</a:t>
            </a:r>
            <a:endParaRPr lang="en-US" sz="1600"/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47180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4876800"/>
            <a:ext cx="10160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明确不主张　已理解人；自主设定目标（S3 关闭）。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验收协议优先：主张强度以组门、VOID 分母与证据分层为界。</a:t>
            </a:r>
            <a:endParaRPr lang="en-US" sz="1400" b="1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16000" y="57404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17000"/>
              </a:lnSpc>
              <a:defRPr/>
            </a:pPr>
            <a:r>
              <a:rPr lang="zh-CN" altLang="en-US" sz="1800" b="1" i="0" u="none" strike="noStrike">
                <a:solidFill>
                  <a:srgbClr val="0040A0"/>
                </a:solidFill>
                <a:latin typeface="Kaiti SC"/>
                <a:ea typeface="Kaiti SC"/>
                <a:cs typeface="Kaiti SC"/>
                <a:sym typeface="Kaiti SC"/>
              </a:rPr>
              <a:t>全项目代码仓库：</a:t>
            </a:r>
            <a:r>
              <a:rPr lang="en-US" altLang="zh-CN" sz="1800" b="1" i="0" u="none" strike="noStrike">
                <a:solidFill>
                  <a:srgbClr val="0040A0"/>
                </a:solidFill>
                <a:latin typeface="Kaiti SC"/>
                <a:ea typeface="Kaiti SC"/>
                <a:cs typeface="Kaiti SC"/>
                <a:sym typeface="Kaiti SC"/>
              </a:rPr>
              <a:t>https://github.com/theblackboxcat/co-work-Argument</a:t>
            </a:r>
            <a:endParaRPr lang="en-US" altLang="zh-CN" sz="1800" b="1" i="0" u="none" strike="noStrike">
              <a:solidFill>
                <a:srgbClr val="0040A0"/>
              </a:solidFill>
              <a:latin typeface="Kaiti SC"/>
              <a:ea typeface="Kaiti SC"/>
              <a:cs typeface="Kaiti SC"/>
              <a:sym typeface="Kaiti SC"/>
            </a:endParaRPr>
          </a:p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0040A0"/>
                </a:solidFill>
                <a:latin typeface="Kaiti SC"/>
                <a:ea typeface="Kaiti SC"/>
                <a:cs typeface="Kaiti SC"/>
                <a:sym typeface="Kaiti SC"/>
              </a:rPr>
              <a:t>谢谢各位老师。欢迎批评指正。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64516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10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兴趣资产缺的两截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587500"/>
            <a:ext cx="1016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结点来自推荐里积累的兴趣，不是文章分类树。用户下一句只矫正地址。0.489/0.523 与 8/8 不改。</a:t>
            </a:r>
            <a:endParaRPr lang="en-US" sz="20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26733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2952750"/>
            <a:ext cx="431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对象</a:t>
            </a:r>
            <a:endParaRPr lang="en-US" sz="2000"/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同一份兴趣两种用法：收窄看见的是茧房，收窄猜测的是协变树。平台正在用的表不在手。</a:t>
            </a:r>
            <a:endParaRPr lang="en-US" sz="14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第一截</a:t>
            </a:r>
            <a:endParaRPr lang="en-US" sz="20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公开算法停在向量。最近的树决定给用户看什么。转换未跑。E12–E18 仍是最小可行性。</a:t>
            </a:r>
            <a:endParaRPr lang="en-US" sz="18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4374">
            <a:off x="4343386" y="4667279"/>
            <a:ext cx="2794029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146800" y="2851150"/>
            <a:ext cx="5029200" cy="289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第二截</a:t>
            </a:r>
            <a:endParaRPr lang="en-US" sz="2000"/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一次更新把倾向、已推物品、被引出的行为折进同一坐标。这样切出的结点命名的是回路。</a:t>
            </a:r>
            <a:endParaRPr lang="en-US" sz="18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替代库</a:t>
            </a:r>
            <a:endParaRPr lang="en-US" sz="2000" b="1" i="0" u="none" strike="noStrike">
              <a:solidFill>
                <a:srgbClr val="0040A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行为是证据。结点要稳定编号、一条父边、一句能否证且不进生成的断言。回声禁止当矫正地址。</a:t>
            </a:r>
            <a:endParaRPr lang="en-US" sz="18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12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2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3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4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5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6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7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8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9.xml><?xml version="1.0" encoding="utf-8"?>
<p:tagLst xmlns:p="http://schemas.openxmlformats.org/presentationml/2006/main">
  <p:tag name="KSO_WM_DIAGRAM_VIRTUALLY_FRAME" val="{&quot;height&quot;:328,&quot;left&quot;:560,&quot;top&quot;:136,&quot;width&quot;:320}"/>
</p:tagLst>
</file>

<file path=ppt/tags/tag10.xml><?xml version="1.0" encoding="utf-8"?>
<p:tagLst xmlns:p="http://schemas.openxmlformats.org/presentationml/2006/main">
  <p:tag name="KSO_WM_DIAGRAM_VIRTUALLY_FRAME" val="{&quot;height&quot;:328,&quot;left&quot;:560,&quot;top&quot;:136,&quot;width&quot;:320}"/>
</p:tagLst>
</file>

<file path=ppt/tags/tag11.xml><?xml version="1.0" encoding="utf-8"?>
<p:tagLst xmlns:p="http://schemas.openxmlformats.org/presentationml/2006/main">
  <p:tag name="KSO_WM_DIAGRAM_VIRTUALLY_FRAME" val="{&quot;height&quot;:328,&quot;left&quot;:560,&quot;top&quot;:136,&quot;width&quot;:320}"/>
</p:tagLst>
</file>

<file path=ppt/tags/tag12.xml><?xml version="1.0" encoding="utf-8"?>
<p:tagLst xmlns:p="http://schemas.openxmlformats.org/presentationml/2006/main">
  <p:tag name="KSO_WM_DIAGRAM_VIRTUALLY_FRAME" val="{&quot;height&quot;:328,&quot;left&quot;:560,&quot;top&quot;:136,&quot;width&quot;:320}"/>
</p:tagLst>
</file>

<file path=ppt/tags/tag13.xml><?xml version="1.0" encoding="utf-8"?>
<p:tagLst xmlns:p="http://schemas.openxmlformats.org/presentationml/2006/main">
  <p:tag name="KSO_WM_DIAGRAM_VIRTUALLY_FRAME" val="{&quot;height&quot;:388,&quot;left&quot;:80,&quot;top&quot;:136,&quot;width&quot;:800.0012573815211}"/>
</p:tagLst>
</file>

<file path=ppt/tags/tag14.xml><?xml version="1.0" encoding="utf-8"?>
<p:tagLst xmlns:p="http://schemas.openxmlformats.org/presentationml/2006/main">
  <p:tag name="KSO_WM_DIAGRAM_VIRTUALLY_FRAME" val="{&quot;height&quot;:388,&quot;left&quot;:80,&quot;top&quot;:136,&quot;width&quot;:800.0012573815211}"/>
</p:tagLst>
</file>

<file path=ppt/tags/tag15.xml><?xml version="1.0" encoding="utf-8"?>
<p:tagLst xmlns:p="http://schemas.openxmlformats.org/presentationml/2006/main">
  <p:tag name="KSO_WM_DIAGRAM_VIRTUALLY_FRAME" val="{&quot;height&quot;:388,&quot;left&quot;:80,&quot;top&quot;:136,&quot;width&quot;:800.0012573815211}"/>
</p:tagLst>
</file>

<file path=ppt/tags/tag16.xml><?xml version="1.0" encoding="utf-8"?>
<p:tagLst xmlns:p="http://schemas.openxmlformats.org/presentationml/2006/main">
  <p:tag name="KSO_WM_DIAGRAM_VIRTUALLY_FRAME" val="{&quot;height&quot;:388,&quot;left&quot;:80,&quot;top&quot;:136,&quot;width&quot;:800.0012573815211}"/>
</p:tagLst>
</file>

<file path=ppt/tags/tag17.xml><?xml version="1.0" encoding="utf-8"?>
<p:tagLst xmlns:p="http://schemas.openxmlformats.org/presentationml/2006/main">
  <p:tag name="KSO_WM_DIAGRAM_VIRTUALLY_FRAME" val="{&quot;height&quot;:388,&quot;left&quot;:80,&quot;top&quot;:136,&quot;width&quot;:800.0012573815211}"/>
</p:tagLst>
</file>

<file path=ppt/tags/tag18.xml><?xml version="1.0" encoding="utf-8"?>
<p:tagLst xmlns:p="http://schemas.openxmlformats.org/presentationml/2006/main">
  <p:tag name="KSO_WM_DIAGRAM_VIRTUALLY_FRAME" val="{&quot;height&quot;:388,&quot;left&quot;:80,&quot;top&quot;:136,&quot;width&quot;:800.0012573815211}"/>
</p:tagLst>
</file>

<file path=ppt/tags/tag19.xml><?xml version="1.0" encoding="utf-8"?>
<p:tagLst xmlns:p="http://schemas.openxmlformats.org/presentationml/2006/main">
  <p:tag name="KSO_WM_DIAGRAM_VIRTUALLY_FRAME" val="{&quot;height&quot;:388,&quot;left&quot;:80,&quot;top&quot;:136,&quot;width&quot;:800.0012573815211}"/>
</p:tagLst>
</file>

<file path=ppt/tags/tag20.xml><?xml version="1.0" encoding="utf-8"?>
<p:tagLst xmlns:p="http://schemas.openxmlformats.org/presentationml/2006/main">
  <p:tag name="KSO_WM_DIAGRAM_VIRTUALLY_FRAME" val="{&quot;height&quot;:388,&quot;left&quot;:80,&quot;top&quot;:136,&quot;width&quot;:800.0012573815211}"/>
</p:tagLst>
</file>

<file path=ppt/tags/tag21.xml><?xml version="1.0" encoding="utf-8"?>
<p:tagLst xmlns:p="http://schemas.openxmlformats.org/presentationml/2006/main">
  <p:tag name="KSO_WM_DIAGRAM_VIRTUALLY_FRAME" val="{&quot;height&quot;:388,&quot;left&quot;:80,&quot;top&quot;:136,&quot;width&quot;:800.0012573815211}"/>
</p:tagLst>
</file>

<file path=ppt/tags/tag22.xml><?xml version="1.0" encoding="utf-8"?>
<p:tagLst xmlns:p="http://schemas.openxmlformats.org/presentationml/2006/main">
  <p:tag name="KSO_WM_DIAGRAM_VIRTUALLY_FRAME" val="{&quot;height&quot;:388,&quot;left&quot;:80,&quot;top&quot;:136,&quot;width&quot;:800.0012573815211}"/>
</p:tagLst>
</file>

<file path=ppt/tags/tag23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24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25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26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27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28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29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30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3655</Words>
  <Application>WPS 演示</Application>
  <PresentationFormat/>
  <Paragraphs>319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Noto Serif SC</vt:lpstr>
      <vt:lpstr>Kaiti SC</vt:lpstr>
      <vt:lpstr>Segoe Print</vt:lpstr>
      <vt:lpstr>微软雅黑</vt:lpstr>
      <vt:lpstr>Arial Unicode MS</vt:lpstr>
      <vt:lpstr>Kaiti SC</vt:lpstr>
      <vt:lpstr>Office 主题​​</vt:lpstr>
      <vt:lpstr>Office 主题​​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金色原野上的猫</cp:lastModifiedBy>
  <cp:revision>2</cp:revision>
  <dcterms:created xsi:type="dcterms:W3CDTF">2026-10-14T11:30:00Z</dcterms:created>
  <dcterms:modified xsi:type="dcterms:W3CDTF">2026-10-14T13:01:38Z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{"Label":"1","ContentProducer":"001191110102MACQD9K64010000","ProduceID":"7696482363555810304","ReservedCode1":"","ContentPropagator":"","PropagateID":"","ReservedCode2":""}</vt:lpwstr>
  </property>
  <property fmtid="{D5CDD505-2E9C-101B-9397-08002B2CF9AE}" pid="3" name="KSOProductBuildVer">
    <vt:lpwstr>2052-12.1.0.28505</vt:lpwstr>
  </property>
  <property fmtid="{D5CDD505-2E9C-101B-9397-08002B2CF9AE}" pid="4" name="ICV">
    <vt:lpwstr>8752FCCB57D84FC8833EB38F32979743_12</vt:lpwstr>
  </property>
</Properties>
</file>